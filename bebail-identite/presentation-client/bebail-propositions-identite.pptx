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des deux directions d'identité pour bebail. Montrer d'abord le brief, puis chaque proposition, puis la comparaison et la recommandation.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la cible et la promesse. Insister sur les clichés du secteur que les deux propositions évitent.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prolonge l'univers actuel du site. B repart de l'initiale et change la palette : plus distinctif, mais demande de recolorer le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Proposition A : on garde l'univers actuel (fond sombre, vert menthe) et on remplace l'icône d'immeuble par un signe propre à bebail.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geste : amorce, murs, toit, paraphe. Le paraphe renvoie à la signature électronique, point fort du produit.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vert menthe manque de contraste sur blanc : sur fond clair, on passe au vert Sapin.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cohérence : icône d'appli, onglet, réseaux, cartes de visite.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Proposition B : une rupture. Nouvelle palette et nouveau symbole bâti sur l'initiale.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comment le b, la maison et le paraphe se superposent. Le mot bebail reprend le paraphe dans son 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Palette tirée de l'immeuble parisien : pierre des façades, zinc des toits, encre du stylo. Dosage : 60 % pierre, 30 % nuit, 10 % encre.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 fonctionne seul comme icône d'appli, avatar et favicon.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sont solides. A minimise le changement ; B maximise la distinction et la mémorisation.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Recommander B, tout en laissant A comme option à faible coût. Rappeler qu'une recherche d'antériorité est nécessaire avant tout dépôt.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 VISUELLE · SEPTEMBRE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9C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propositions de logo et de charte graphique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son immobilier ne devrait pas être un second métier.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03720" y="1143000"/>
            <a:ext cx="2194560" cy="2194560"/>
          </a:xfrm>
          <a:prstGeom prst="roundRect">
            <a:avLst>
              <a:gd name="adj" fmla="val 7500"/>
            </a:avLst>
          </a:prstGeom>
          <a:solidFill>
            <a:srgbClr val="0B1116"/>
          </a:solidFill>
          <a:ln w="9525">
            <a:solidFill>
              <a:srgbClr val="2A323B"/>
            </a:solidFill>
            <a:prstDash val="solid"/>
          </a:ln>
        </p:spPr>
      </p:sp>
      <p:pic>
        <p:nvPicPr>
          <p:cNvPr id="7" name="Image 0" descr="/home/user/safwen/bebail-identite/presentation-client/img/A-symbole-petit-couleur-som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508760"/>
            <a:ext cx="1463040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81160" y="1143000"/>
            <a:ext cx="2194560" cy="2194560"/>
          </a:xfrm>
          <a:prstGeom prst="roundRect">
            <a:avLst>
              <a:gd name="adj" fmla="val 7500"/>
            </a:avLst>
          </a:prstGeom>
          <a:solidFill>
            <a:srgbClr val="2F3BFF"/>
          </a:solidFill>
          <a:ln w="9525">
            <a:solidFill>
              <a:srgbClr val="2F3BFF"/>
            </a:solidFill>
            <a:prstDash val="solid"/>
          </a:ln>
        </p:spPr>
      </p:sp>
      <p:pic>
        <p:nvPicPr>
          <p:cNvPr id="9" name="Image 1" descr="/home/user/safwen/bebail-identite/presentation-client/img/B-symbole-petit-enc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508760"/>
            <a:ext cx="1463040" cy="1463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0372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Signature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28116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b-signature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BRIEF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retenu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937760" cy="3566160"/>
          </a:xfrm>
          <a:prstGeom prst="roundRect">
            <a:avLst>
              <a:gd name="adj" fmla="val 4615"/>
            </a:avLst>
          </a:prstGeom>
          <a:solidFill>
            <a:srgbClr val="F4F5F6"/>
          </a:solidFill>
          <a:ln w="9525">
            <a:solidFill>
              <a:srgbClr val="E3E6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Gérer son immobilier ne devrait pas être un second métier. »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572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promesse de bebail.com, point de départ de l'identité.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920240"/>
            <a:ext cx="384048" cy="38404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893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qui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402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propriétaires bailleurs d'aujourd'hui : LMNP, location courte durée et baux longue durée.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3108960"/>
            <a:ext cx="384048" cy="38404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893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fait bebail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4290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Contrats, quittances, signature électronique, comptabilité et copilote IA, dans un seul espace.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4297680"/>
            <a:ext cx="384048" cy="38404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8932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la marque doit inspirer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617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Sérénité, simplicité, fiabilité juridique, modernité.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éviter dans le secteur : immeubles génériques, clés, toit posé sur une coche, bulle de chat, bleu bancaire.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· identité visuelle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directions, deux niveaux de changement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2743200"/>
          </a:xfrm>
          <a:prstGeom prst="roundRect">
            <a:avLst>
              <a:gd name="adj" fmla="val 6000"/>
            </a:avLst>
          </a:prstGeom>
          <a:solidFill>
            <a:srgbClr val="0B1116"/>
          </a:solidFill>
          <a:ln w="9525">
            <a:solidFill>
              <a:srgbClr val="0B1116"/>
            </a:solidFill>
            <a:prstDash val="solid"/>
          </a:ln>
        </p:spPr>
      </p:sp>
      <p:pic>
        <p:nvPicPr>
          <p:cNvPr id="5" name="Image 0" descr="/home/user/safwen/bebail-identite/presentation-client/img/A-horizontal-couleur-som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509914"/>
            <a:ext cx="4267048" cy="14724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78728" y="1874520"/>
            <a:ext cx="5364328" cy="2743200"/>
          </a:xfrm>
          <a:prstGeom prst="roundRect">
            <a:avLst>
              <a:gd name="adj" fmla="val 6000"/>
            </a:avLst>
          </a:prstGeom>
          <a:solidFill>
            <a:srgbClr val="ECE8E1"/>
          </a:solidFill>
          <a:ln w="9525">
            <a:solidFill>
              <a:srgbClr val="D9D3C8"/>
            </a:solidFill>
            <a:prstDash val="solid"/>
          </a:ln>
        </p:spPr>
      </p:sp>
      <p:pic>
        <p:nvPicPr>
          <p:cNvPr id="7" name="Image 1" descr="/home/user/safwen/bebail-identite/presentation-client/img/B-horizontal-pier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8" y="2576884"/>
            <a:ext cx="4267048" cy="13384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84632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Signature, l'évolution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257800"/>
            <a:ext cx="536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 le vert menthe du site. Une maison tracée d'un seul trait qui finit en paraphe.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278728" y="484632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b-signature, la rupture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5257800"/>
            <a:ext cx="536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Nouvelle palette encre et pierre. Un b dont la panse est une maison et le pied un paraphe.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· identité visuelle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0" b="1" dirty="0">
                <a:solidFill>
                  <a:srgbClr val="5FC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FC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17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7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maison tracée d'un seul trait qui finit en paraphe : le bail signé.</a:t>
            </a:r>
            <a:endParaRPr lang="en-US" sz="1800" dirty="0"/>
          </a:p>
        </p:txBody>
      </p:sp>
      <p:pic>
        <p:nvPicPr>
          <p:cNvPr id="6" name="Image 0" descr="/home/user/safwen/bebail-identite/presentation-client/img/A-symbole-couleur-som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4846320" cy="4846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7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· identité visuelle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7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7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A · L'IDÉE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bail signé devient un chez-soi</a:t>
            </a:r>
            <a:endParaRPr lang="en-US" sz="3600" dirty="0"/>
          </a:p>
        </p:txBody>
      </p:sp>
      <p:pic>
        <p:nvPicPr>
          <p:cNvPr id="4" name="Image 0" descr="/home/user/safwen/bebail-identite/presentation-client/img/A-constr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29768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4297680" cy="4297680"/>
          </a:xfrm>
          <a:prstGeom prst="rect">
            <a:avLst/>
          </a:prstGeom>
          <a:ln w="9525">
            <a:solidFill>
              <a:srgbClr val="E3E6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828800"/>
            <a:ext cx="6156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geste humain plutôt qu'un pictogramme : le symbole se dessine sans lever le stylo.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788920"/>
            <a:ext cx="6156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trait continu :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outil, un seul espace.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toit à 45° :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construit sur une grille de 16 unités.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paraphe final :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signature électronique et la confiance.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extrémités arrondies :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sérénité promise aux propriétaires.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5394960"/>
            <a:ext cx="6156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coupe simplifiée existe pour les très petites tailles (favicon, icônes système).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· identité visuelle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7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A · LOGO ET COULEURS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Menthe sur nuit, dans la continuité du site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2011680"/>
          </a:xfrm>
          <a:prstGeom prst="roundRect">
            <a:avLst>
              <a:gd name="adj" fmla="val 8182"/>
            </a:avLst>
          </a:prstGeom>
          <a:solidFill>
            <a:srgbClr val="0B1116"/>
          </a:solidFill>
          <a:ln w="9525">
            <a:solidFill>
              <a:srgbClr val="0B1116"/>
            </a:solidFill>
            <a:prstDash val="solid"/>
          </a:ln>
        </p:spPr>
      </p:sp>
      <p:pic>
        <p:nvPicPr>
          <p:cNvPr id="5" name="Image 0" descr="/home/user/safwen/bebail-identite/presentation-client/img/A-horizontal-couleur-som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355" y="2103120"/>
            <a:ext cx="3974897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78728" y="1783080"/>
            <a:ext cx="5364328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D6D9DC"/>
            </a:solidFill>
            <a:prstDash val="solid"/>
          </a:ln>
        </p:spPr>
      </p:sp>
      <p:pic>
        <p:nvPicPr>
          <p:cNvPr id="7" name="Image 1" descr="/home/user/safwen/bebail-identite/presentation-client/img/A-horizontal-couleur-cl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443" y="2103120"/>
            <a:ext cx="3974897" cy="1371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069080"/>
            <a:ext cx="2087209" cy="868680"/>
          </a:xfrm>
          <a:prstGeom prst="roundRect">
            <a:avLst>
              <a:gd name="adj" fmla="val 18947"/>
            </a:avLst>
          </a:prstGeom>
          <a:solidFill>
            <a:srgbClr val="0B1116"/>
          </a:solidFill>
          <a:ln w="9525">
            <a:solidFill>
              <a:srgbClr val="0B111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047488"/>
            <a:ext cx="20872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Nuit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303520"/>
            <a:ext cx="2087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#0B1116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550408"/>
            <a:ext cx="20872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 principal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800441" y="4069080"/>
            <a:ext cx="2087209" cy="868680"/>
          </a:xfrm>
          <a:prstGeom prst="roundRect">
            <a:avLst>
              <a:gd name="adj" fmla="val 18947"/>
            </a:avLst>
          </a:prstGeom>
          <a:solidFill>
            <a:srgbClr val="5FCB8E"/>
          </a:solidFill>
          <a:ln w="9525">
            <a:solidFill>
              <a:srgbClr val="5FCB8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800441" y="5047488"/>
            <a:ext cx="20872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Menthe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800441" y="5303520"/>
            <a:ext cx="2087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#5FCB8E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800441" y="5550408"/>
            <a:ext cx="20872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Symbole et accents sur fond sombre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52243" y="4069080"/>
            <a:ext cx="2087209" cy="868680"/>
          </a:xfrm>
          <a:prstGeom prst="roundRect">
            <a:avLst>
              <a:gd name="adj" fmla="val 18947"/>
            </a:avLst>
          </a:prstGeom>
          <a:solidFill>
            <a:srgbClr val="17754A"/>
          </a:solidFill>
          <a:ln w="9525">
            <a:solidFill>
              <a:srgbClr val="17754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052243" y="5047488"/>
            <a:ext cx="20872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Sapin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052243" y="5303520"/>
            <a:ext cx="2087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#17754A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052243" y="5550408"/>
            <a:ext cx="20872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Symbole sur fond clair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304044" y="4069080"/>
            <a:ext cx="2087209" cy="868680"/>
          </a:xfrm>
          <a:prstGeom prst="roundRect">
            <a:avLst>
              <a:gd name="adj" fmla="val 18947"/>
            </a:avLst>
          </a:prstGeom>
          <a:solidFill>
            <a:srgbClr val="EEF2F0"/>
          </a:solidFill>
          <a:ln w="9525">
            <a:solidFill>
              <a:srgbClr val="D6D9D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04044" y="5047488"/>
            <a:ext cx="20872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Brume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304044" y="5303520"/>
            <a:ext cx="2087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#EEF2F0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7304044" y="5550408"/>
            <a:ext cx="20872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Fonds clairs, documents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9555846" y="4069080"/>
            <a:ext cx="2087209" cy="868680"/>
          </a:xfrm>
          <a:prstGeom prst="roundRect">
            <a:avLst>
              <a:gd name="adj" fmla="val 18947"/>
            </a:avLst>
          </a:prstGeom>
          <a:solidFill>
            <a:srgbClr val="8B96A3"/>
          </a:solidFill>
          <a:ln w="9525">
            <a:solidFill>
              <a:srgbClr val="8B96A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555846" y="5047488"/>
            <a:ext cx="20872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Ardoise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9555846" y="5303520"/>
            <a:ext cx="2087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#8B96A3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9555846" y="5550408"/>
            <a:ext cx="20872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secondaire sur Nuit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· identité visuelle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7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A · EN SITUATION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appli, réseaux, papeterie</a:t>
            </a:r>
            <a:endParaRPr lang="en-US" sz="3600" dirty="0"/>
          </a:p>
        </p:txBody>
      </p:sp>
      <p:pic>
        <p:nvPicPr>
          <p:cNvPr id="4" name="Image 0" descr="/home/user/safwen/bebail-identite/presentation-client/img/A-maquet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020" y="1737360"/>
            <a:ext cx="9301655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· identité visuelle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b-signature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17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L'initiale, la maison et la signature, en un trait.</a:t>
            </a:r>
            <a:endParaRPr lang="en-US" sz="1800" dirty="0"/>
          </a:p>
        </p:txBody>
      </p:sp>
      <p:pic>
        <p:nvPicPr>
          <p:cNvPr id="6" name="Image 0" descr="/home/user/safwen/bebail-identite/presentation-client/img/B-symbole-enc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4846320" cy="4846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· identité visuelle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DD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3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B · L'IDÉE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 qui loge, un pied qui signe</a:t>
            </a:r>
            <a:endParaRPr lang="en-US" sz="3600" dirty="0"/>
          </a:p>
        </p:txBody>
      </p:sp>
      <p:pic>
        <p:nvPicPr>
          <p:cNvPr id="4" name="Image 0" descr="/home/user/safwen/bebail-identite/presentation-client/img/B-constr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29768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4297680" cy="4297680"/>
          </a:xfrm>
          <a:prstGeom prst="rect">
            <a:avLst/>
          </a:prstGeom>
          <a:ln w="9525">
            <a:solidFill>
              <a:srgbClr val="E3E6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828800"/>
            <a:ext cx="6156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part de sa propre initiale : on lit la lettre, puis la maison, puis le paraphe.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788920"/>
            <a:ext cx="6156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fût du b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dépasse le toit : la lettre se lit en premier.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panse est un logement,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toit à 45° exacts.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pied file en paraphe :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signature, la valeur juridique.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« l » du nom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reprend le même paraphe : nom et symbole se répondent.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5394960"/>
            <a:ext cx="6156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nom s'écrit « bebail », en minuscules et d'une seule couleur. Le tracé s'anime pour le chargement et la confirmation « Bail signé ».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· identité visuelle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3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B · LOGO ET COULEURS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murs de pierre, une signature à l'encre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2011680"/>
          </a:xfrm>
          <a:prstGeom prst="roundRect">
            <a:avLst>
              <a:gd name="adj" fmla="val 8182"/>
            </a:avLst>
          </a:prstGeom>
          <a:solidFill>
            <a:srgbClr val="0E1126"/>
          </a:solidFill>
          <a:ln w="9525">
            <a:solidFill>
              <a:srgbClr val="0E1126"/>
            </a:solidFill>
            <a:prstDash val="solid"/>
          </a:ln>
        </p:spPr>
      </p:sp>
      <p:pic>
        <p:nvPicPr>
          <p:cNvPr id="5" name="Image 0" descr="/home/user/safwen/bebail-identite/presentation-client/img/B-horizontal-nu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19684"/>
            <a:ext cx="4267048" cy="1338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78728" y="1783080"/>
            <a:ext cx="5364328" cy="2011680"/>
          </a:xfrm>
          <a:prstGeom prst="roundRect">
            <a:avLst>
              <a:gd name="adj" fmla="val 8182"/>
            </a:avLst>
          </a:prstGeom>
          <a:solidFill>
            <a:srgbClr val="ECE8E1"/>
          </a:solidFill>
          <a:ln w="9525">
            <a:solidFill>
              <a:srgbClr val="D6D9DC"/>
            </a:solidFill>
            <a:prstDash val="solid"/>
          </a:ln>
        </p:spPr>
      </p:sp>
      <p:pic>
        <p:nvPicPr>
          <p:cNvPr id="7" name="Image 1" descr="/home/user/safwen/bebail-identite/presentation-client/img/B-horizontal-pier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8" y="2119684"/>
            <a:ext cx="4267048" cy="1338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069080"/>
            <a:ext cx="2087209" cy="868680"/>
          </a:xfrm>
          <a:prstGeom prst="roundRect">
            <a:avLst>
              <a:gd name="adj" fmla="val 18947"/>
            </a:avLst>
          </a:prstGeom>
          <a:solidFill>
            <a:srgbClr val="2F3BFF"/>
          </a:solidFill>
          <a:ln w="9525">
            <a:solidFill>
              <a:srgbClr val="2F3B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047488"/>
            <a:ext cx="20872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Encre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303520"/>
            <a:ext cx="2087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#2F3BFF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550408"/>
            <a:ext cx="20872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boutons, liens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800441" y="4069080"/>
            <a:ext cx="2087209" cy="868680"/>
          </a:xfrm>
          <a:prstGeom prst="roundRect">
            <a:avLst>
              <a:gd name="adj" fmla="val 18947"/>
            </a:avLst>
          </a:prstGeom>
          <a:solidFill>
            <a:srgbClr val="ECE8E1"/>
          </a:solidFill>
          <a:ln w="9525">
            <a:solidFill>
              <a:srgbClr val="D6D9D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800441" y="5047488"/>
            <a:ext cx="20872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Pierre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800441" y="5303520"/>
            <a:ext cx="2087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#ECE8E1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800441" y="5550408"/>
            <a:ext cx="20872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 principal clair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52243" y="4069080"/>
            <a:ext cx="2087209" cy="868680"/>
          </a:xfrm>
          <a:prstGeom prst="roundRect">
            <a:avLst>
              <a:gd name="adj" fmla="val 18947"/>
            </a:avLst>
          </a:prstGeom>
          <a:solidFill>
            <a:srgbClr val="0E1126"/>
          </a:solidFill>
          <a:ln w="9525">
            <a:solidFill>
              <a:srgbClr val="0E112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052243" y="5047488"/>
            <a:ext cx="20872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Nuit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052243" y="5303520"/>
            <a:ext cx="2087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#0E1126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052243" y="5550408"/>
            <a:ext cx="20872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Texte, mode sombre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304044" y="4069080"/>
            <a:ext cx="2087209" cy="868680"/>
          </a:xfrm>
          <a:prstGeom prst="roundRect">
            <a:avLst>
              <a:gd name="adj" fmla="val 18947"/>
            </a:avLst>
          </a:prstGeom>
          <a:solidFill>
            <a:srgbClr val="8E97FF"/>
          </a:solidFill>
          <a:ln w="9525">
            <a:solidFill>
              <a:srgbClr val="8E97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04044" y="5047488"/>
            <a:ext cx="20872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Ciel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304044" y="5303520"/>
            <a:ext cx="2087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#8E97FF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7304044" y="5550408"/>
            <a:ext cx="20872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L'encre sur fond sombre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9555846" y="4069080"/>
            <a:ext cx="2087209" cy="868680"/>
          </a:xfrm>
          <a:prstGeom prst="roundRect">
            <a:avLst>
              <a:gd name="adj" fmla="val 18947"/>
            </a:avLst>
          </a:prstGeom>
          <a:solidFill>
            <a:srgbClr val="56616B"/>
          </a:solidFill>
          <a:ln w="9525">
            <a:solidFill>
              <a:srgbClr val="56616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555846" y="5047488"/>
            <a:ext cx="20872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Zinc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9555846" y="5303520"/>
            <a:ext cx="2087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#56616B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9555846" y="5550408"/>
            <a:ext cx="20872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secondaire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· identité visuelle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3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B · EN SITUATION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appli, réseaux, papeterie</a:t>
            </a:r>
            <a:endParaRPr lang="en-US" sz="3600" dirty="0"/>
          </a:p>
        </p:txBody>
      </p:sp>
      <p:pic>
        <p:nvPicPr>
          <p:cNvPr id="4" name="Image 0" descr="/home/user/safwen/bebail-identite/presentation-client/img/B-maquet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020" y="1737360"/>
            <a:ext cx="9301655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· identité visuelle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Côte à côte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9664"/>
                <a:gridCol w="41788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Critère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Signature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· b-signature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B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Idée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Maison et signature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Initiale, maison et signature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Lisibilité à 16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 avec la coupe simplifiée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Très bonne : le b reste net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Distinction dans le secteur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Bonne ; le vert sur noir est courant en tech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Forte ; encre et pierre inédites dans la gestion locative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Continuité avec le site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Totale : reprend le vert actuel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Faible : couleurs du site à reprendre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 de mise en place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Moyen : boutons, visuels, captures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Potentiel (animation, icônes)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Très bon : tracé animé, icônes au même trait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bebail · identité visuelle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RECOMMANDATION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b-signature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seul signe du secteur qui réunit l'initiale, le logement et la signature.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palette que personne n'utilise dans la gestion locative.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 tient seul : icône d'appli, favicon, avatar, animation.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priorité est de ne pas toucher au site actuel, la proposition A reste une évolution solide.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0" y="868680"/>
            <a:ext cx="4325112" cy="3566160"/>
          </a:xfrm>
          <a:prstGeom prst="roundRect">
            <a:avLst>
              <a:gd name="adj" fmla="val 4615"/>
            </a:avLst>
          </a:prstGeom>
          <a:solidFill>
            <a:srgbClr val="2F3BFF"/>
          </a:solidFill>
          <a:ln w="9525">
            <a:solidFill>
              <a:srgbClr val="2F3BFF"/>
            </a:solidFill>
            <a:prstDash val="solid"/>
          </a:ln>
        </p:spPr>
      </p:sp>
      <p:pic>
        <p:nvPicPr>
          <p:cNvPr id="7" name="Image 0" descr="/home/user/safwen/bebail-identite/presentation-client/img/B-symbole-enc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03020"/>
            <a:ext cx="2697480" cy="2697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029200"/>
            <a:ext cx="2567864" cy="914400"/>
          </a:xfrm>
          <a:prstGeom prst="roundRect">
            <a:avLst>
              <a:gd name="adj" fmla="val 18000"/>
            </a:avLst>
          </a:prstGeom>
          <a:solidFill>
            <a:srgbClr val="1C2127"/>
          </a:solidFill>
          <a:ln w="9525">
            <a:solidFill>
              <a:srgbClr val="2A3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5138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504688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de la direction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90824" y="5029200"/>
            <a:ext cx="2567864" cy="914400"/>
          </a:xfrm>
          <a:prstGeom prst="roundRect">
            <a:avLst>
              <a:gd name="adj" fmla="val 18000"/>
            </a:avLst>
          </a:prstGeom>
          <a:solidFill>
            <a:srgbClr val="1C2127"/>
          </a:solidFill>
          <a:ln w="9525">
            <a:solidFill>
              <a:srgbClr val="2A31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9424" y="5138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619424" y="5504688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Ajustements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33008" y="5029200"/>
            <a:ext cx="2567864" cy="914400"/>
          </a:xfrm>
          <a:prstGeom prst="roundRect">
            <a:avLst>
              <a:gd name="adj" fmla="val 18000"/>
            </a:avLst>
          </a:prstGeom>
          <a:solidFill>
            <a:srgbClr val="1C2127"/>
          </a:solidFill>
          <a:ln w="9525">
            <a:solidFill>
              <a:srgbClr val="2A31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61608" y="5138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61608" y="5504688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 des fichiers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075191" y="5029200"/>
            <a:ext cx="2567864" cy="914400"/>
          </a:xfrm>
          <a:prstGeom prst="roundRect">
            <a:avLst>
              <a:gd name="adj" fmla="val 18000"/>
            </a:avLst>
          </a:prstGeom>
          <a:solidFill>
            <a:srgbClr val="1C2127"/>
          </a:solidFill>
          <a:ln w="9525">
            <a:solidFill>
              <a:srgbClr val="2A31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03791" y="5138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303791" y="5504688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INPI et dépôt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bebail · Identité visuelle · Deux propositions</dc:title>
  <dc:subject>PptxGenJS Presentation</dc:subject>
  <dc:creator>bebail</dc:creator>
  <cp:lastModifiedBy>bebail</cp:lastModifiedBy>
  <cp:revision>1</cp:revision>
  <dcterms:created xsi:type="dcterms:W3CDTF">2026-09-29T12:34:23Z</dcterms:created>
  <dcterms:modified xsi:type="dcterms:W3CDTF">2026-09-29T12:34:23Z</dcterms:modified>
</cp:coreProperties>
</file>